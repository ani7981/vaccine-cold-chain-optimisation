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Brick Sans" charset="1" panose="00000000000000000000"/>
      <p:regular r:id="rId14"/>
    </p:embeddedFont>
    <p:embeddedFont>
      <p:font typeface="Foda Display" charset="1" panose="00000000000000000000"/>
      <p:regular r:id="rId15"/>
    </p:embeddedFont>
    <p:embeddedFont>
      <p:font typeface="Roboto Bold" charset="1" panose="02000000000000000000"/>
      <p:regular r:id="rId16"/>
    </p:embeddedFont>
    <p:embeddedFont>
      <p:font typeface="Buenard" charset="1" panose="02000000000000000000"/>
      <p:regular r:id="rId17"/>
    </p:embeddedFont>
    <p:embeddedFont>
      <p:font typeface="Bricolage Grotesque Bold" charset="1" panose="020B0605040402000204"/>
      <p:regular r:id="rId18"/>
    </p:embeddedFont>
    <p:embeddedFont>
      <p:font typeface="Bricolage Grotesque" charset="1" panose="020B060504040200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765551" y="3537497"/>
            <a:ext cx="16537792" cy="265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sz="7122">
                <a:solidFill>
                  <a:srgbClr val="00C8A8"/>
                </a:solidFill>
                <a:latin typeface="Brick Sans"/>
              </a:rPr>
              <a:t>PS 5 — Autonomous Operations Intelligence Desk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22010" y="7430515"/>
            <a:ext cx="4573972" cy="3081713"/>
          </a:xfrm>
          <a:custGeom>
            <a:avLst/>
            <a:gdLst/>
            <a:ahLst/>
            <a:cxnLst/>
            <a:rect r="r" b="b" t="t" l="l"/>
            <a:pathLst>
              <a:path h="3081713" w="4573972">
                <a:moveTo>
                  <a:pt x="0" y="0"/>
                </a:moveTo>
                <a:lnTo>
                  <a:pt x="4573971" y="0"/>
                </a:lnTo>
                <a:lnTo>
                  <a:pt x="4573971" y="3081713"/>
                </a:lnTo>
                <a:lnTo>
                  <a:pt x="0" y="308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37134" y="0"/>
            <a:ext cx="6070214" cy="2701245"/>
          </a:xfrm>
          <a:custGeom>
            <a:avLst/>
            <a:gdLst/>
            <a:ahLst/>
            <a:cxnLst/>
            <a:rect r="r" b="b" t="t" l="l"/>
            <a:pathLst>
              <a:path h="2701245" w="6070214">
                <a:moveTo>
                  <a:pt x="0" y="0"/>
                </a:moveTo>
                <a:lnTo>
                  <a:pt x="6070214" y="0"/>
                </a:lnTo>
                <a:lnTo>
                  <a:pt x="6070214" y="2701245"/>
                </a:lnTo>
                <a:lnTo>
                  <a:pt x="0" y="2701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1299" y="-960369"/>
            <a:ext cx="3873712" cy="3978138"/>
          </a:xfrm>
          <a:custGeom>
            <a:avLst/>
            <a:gdLst/>
            <a:ahLst/>
            <a:cxnLst/>
            <a:rect r="r" b="b" t="t" l="l"/>
            <a:pathLst>
              <a:path h="3978138" w="3873712">
                <a:moveTo>
                  <a:pt x="0" y="0"/>
                </a:moveTo>
                <a:lnTo>
                  <a:pt x="3873712" y="0"/>
                </a:lnTo>
                <a:lnTo>
                  <a:pt x="3873712" y="3978138"/>
                </a:lnTo>
                <a:lnTo>
                  <a:pt x="0" y="3978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84657" y="8110126"/>
            <a:ext cx="3985350" cy="3731737"/>
          </a:xfrm>
          <a:custGeom>
            <a:avLst/>
            <a:gdLst/>
            <a:ahLst/>
            <a:cxnLst/>
            <a:rect r="r" b="b" t="t" l="l"/>
            <a:pathLst>
              <a:path h="3731737" w="3985350">
                <a:moveTo>
                  <a:pt x="0" y="0"/>
                </a:moveTo>
                <a:lnTo>
                  <a:pt x="3985350" y="0"/>
                </a:lnTo>
                <a:lnTo>
                  <a:pt x="3985350" y="3731737"/>
                </a:lnTo>
                <a:lnTo>
                  <a:pt x="0" y="37317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227223" y="4397190"/>
            <a:ext cx="5613880" cy="6984609"/>
          </a:xfrm>
          <a:custGeom>
            <a:avLst/>
            <a:gdLst/>
            <a:ahLst/>
            <a:cxnLst/>
            <a:rect r="r" b="b" t="t" l="l"/>
            <a:pathLst>
              <a:path h="6984609" w="5613880">
                <a:moveTo>
                  <a:pt x="0" y="0"/>
                </a:moveTo>
                <a:lnTo>
                  <a:pt x="5613880" y="0"/>
                </a:lnTo>
                <a:lnTo>
                  <a:pt x="5613880" y="6984609"/>
                </a:lnTo>
                <a:lnTo>
                  <a:pt x="0" y="69846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852370" y="5734364"/>
            <a:ext cx="4349563" cy="323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6"/>
              </a:lnSpc>
            </a:pPr>
            <a:r>
              <a:rPr lang="en-US" sz="3884">
                <a:solidFill>
                  <a:srgbClr val="FFFFFF"/>
                </a:solidFill>
                <a:latin typeface="Foda Display"/>
                <a:ea typeface="Foda Display"/>
                <a:cs typeface="Foda Display"/>
                <a:sym typeface="Foda Display"/>
              </a:rPr>
              <a:t>TEAM MEMBERS-</a:t>
            </a:r>
          </a:p>
          <a:p>
            <a:pPr algn="just">
              <a:lnSpc>
                <a:spcPts val="3231"/>
              </a:lnSpc>
            </a:pPr>
          </a:p>
          <a:p>
            <a:pPr algn="just">
              <a:lnSpc>
                <a:spcPts val="2731"/>
              </a:lnSpc>
            </a:pP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1) </a:t>
            </a: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ANIRUD A</a:t>
            </a: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(LEADER)</a:t>
            </a:r>
          </a:p>
          <a:p>
            <a:pPr algn="just">
              <a:lnSpc>
                <a:spcPts val="2731"/>
              </a:lnSpc>
            </a:pP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2) ANVITHA MOHAN</a:t>
            </a:r>
          </a:p>
          <a:p>
            <a:pPr algn="just">
              <a:lnSpc>
                <a:spcPts val="2731"/>
              </a:lnSpc>
            </a:pP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3) </a:t>
            </a: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ARPIT PANIGRAHI</a:t>
            </a:r>
          </a:p>
          <a:p>
            <a:pPr algn="just">
              <a:lnSpc>
                <a:spcPts val="2731"/>
              </a:lnSpc>
            </a:pP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4) </a:t>
            </a:r>
            <a:r>
              <a:rPr lang="en-US" sz="218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HARKEERAT SINGH</a:t>
            </a:r>
          </a:p>
          <a:p>
            <a:pPr algn="just">
              <a:lnSpc>
                <a:spcPts val="323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34409" y="-920058"/>
            <a:ext cx="5682684" cy="3828708"/>
          </a:xfrm>
          <a:custGeom>
            <a:avLst/>
            <a:gdLst/>
            <a:ahLst/>
            <a:cxnLst/>
            <a:rect r="r" b="b" t="t" l="l"/>
            <a:pathLst>
              <a:path h="3828708" w="5682684">
                <a:moveTo>
                  <a:pt x="0" y="0"/>
                </a:moveTo>
                <a:lnTo>
                  <a:pt x="5682684" y="0"/>
                </a:lnTo>
                <a:lnTo>
                  <a:pt x="5682684" y="3828708"/>
                </a:lnTo>
                <a:lnTo>
                  <a:pt x="0" y="382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421132"/>
            <a:ext cx="3985350" cy="3731737"/>
          </a:xfrm>
          <a:custGeom>
            <a:avLst/>
            <a:gdLst/>
            <a:ahLst/>
            <a:cxnLst/>
            <a:rect r="r" b="b" t="t" l="l"/>
            <a:pathLst>
              <a:path h="3731737" w="3985350">
                <a:moveTo>
                  <a:pt x="0" y="0"/>
                </a:moveTo>
                <a:lnTo>
                  <a:pt x="3985350" y="0"/>
                </a:lnTo>
                <a:lnTo>
                  <a:pt x="3985350" y="3731736"/>
                </a:lnTo>
                <a:lnTo>
                  <a:pt x="0" y="3731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91400" y="994296"/>
            <a:ext cx="5238750" cy="8153400"/>
          </a:xfrm>
          <a:custGeom>
            <a:avLst/>
            <a:gdLst/>
            <a:ahLst/>
            <a:cxnLst/>
            <a:rect r="r" b="b" t="t" l="l"/>
            <a:pathLst>
              <a:path h="8153400" w="5238750">
                <a:moveTo>
                  <a:pt x="0" y="0"/>
                </a:moveTo>
                <a:lnTo>
                  <a:pt x="5238750" y="0"/>
                </a:lnTo>
                <a:lnTo>
                  <a:pt x="5238750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0325" y="784746"/>
            <a:ext cx="6543675" cy="7934325"/>
          </a:xfrm>
          <a:custGeom>
            <a:avLst/>
            <a:gdLst/>
            <a:ahLst/>
            <a:cxnLst/>
            <a:rect r="r" b="b" t="t" l="l"/>
            <a:pathLst>
              <a:path h="7934325" w="6543675">
                <a:moveTo>
                  <a:pt x="0" y="0"/>
                </a:moveTo>
                <a:lnTo>
                  <a:pt x="6543675" y="0"/>
                </a:lnTo>
                <a:lnTo>
                  <a:pt x="6543675" y="7934325"/>
                </a:lnTo>
                <a:lnTo>
                  <a:pt x="0" y="7934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11400" y="356121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14676" y="747045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706475" y="2070621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979652" y="2413539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54475" y="1851546"/>
            <a:ext cx="1533525" cy="1295400"/>
          </a:xfrm>
          <a:custGeom>
            <a:avLst/>
            <a:gdLst/>
            <a:ahLst/>
            <a:cxnLst/>
            <a:rect r="r" b="b" t="t" l="l"/>
            <a:pathLst>
              <a:path h="1295400" w="1533525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052036" y="2125503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668625" y="3566046"/>
            <a:ext cx="1743075" cy="1295400"/>
          </a:xfrm>
          <a:custGeom>
            <a:avLst/>
            <a:gdLst/>
            <a:ahLst/>
            <a:cxnLst/>
            <a:rect r="r" b="b" t="t" l="l"/>
            <a:pathLst>
              <a:path h="1295400" w="1743075">
                <a:moveTo>
                  <a:pt x="0" y="0"/>
                </a:moveTo>
                <a:lnTo>
                  <a:pt x="1743075" y="0"/>
                </a:lnTo>
                <a:lnTo>
                  <a:pt x="1743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027908" y="3874293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6754475" y="5070996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52036" y="5335047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925550" y="5499621"/>
            <a:ext cx="1752600" cy="1504950"/>
          </a:xfrm>
          <a:custGeom>
            <a:avLst/>
            <a:gdLst/>
            <a:ahLst/>
            <a:cxnLst/>
            <a:rect r="r" b="b" t="t" l="l"/>
            <a:pathLst>
              <a:path h="1504950" w="1752600">
                <a:moveTo>
                  <a:pt x="0" y="0"/>
                </a:moveTo>
                <a:lnTo>
                  <a:pt x="1752600" y="0"/>
                </a:lnTo>
                <a:lnTo>
                  <a:pt x="175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308836" y="5952267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6316325" y="6785496"/>
            <a:ext cx="1533525" cy="1285875"/>
          </a:xfrm>
          <a:custGeom>
            <a:avLst/>
            <a:gdLst/>
            <a:ahLst/>
            <a:cxnLst/>
            <a:rect r="r" b="b" t="t" l="l"/>
            <a:pathLst>
              <a:path h="1285875" w="153352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594836" y="7207281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363700" y="8280921"/>
            <a:ext cx="1743075" cy="1295400"/>
          </a:xfrm>
          <a:custGeom>
            <a:avLst/>
            <a:gdLst/>
            <a:ahLst/>
            <a:cxnLst/>
            <a:rect r="r" b="b" t="t" l="l"/>
            <a:pathLst>
              <a:path h="1295400" w="1743075">
                <a:moveTo>
                  <a:pt x="0" y="0"/>
                </a:moveTo>
                <a:lnTo>
                  <a:pt x="1743075" y="0"/>
                </a:lnTo>
                <a:lnTo>
                  <a:pt x="17430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820900" y="8596026"/>
            <a:ext cx="932688" cy="32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3"/>
              </a:lnSpc>
            </a:pPr>
            <a:r>
              <a:rPr lang="en-US" b="true" sz="2514" spc="-50">
                <a:solidFill>
                  <a:srgbClr val="12D6DA"/>
                </a:solidFill>
                <a:latin typeface="Roboto Bold"/>
                <a:ea typeface="Roboto Bold"/>
                <a:cs typeface="Roboto Bold"/>
                <a:sym typeface="Roboto Bold"/>
              </a:rPr>
              <a:t>ALERT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0" y="3090674"/>
            <a:ext cx="7641738" cy="2376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197" spc="115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An AI-Assisted Operations Desk for </a:t>
            </a:r>
            <a:r>
              <a:rPr lang="en-US" sz="3197" spc="115">
                <a:solidFill>
                  <a:srgbClr val="12D6DA"/>
                </a:solidFill>
                <a:latin typeface="Brick Sans"/>
                <a:ea typeface="Brick Sans"/>
                <a:cs typeface="Brick Sans"/>
                <a:sym typeface="Brick Sans"/>
              </a:rPr>
              <a:t>Vaccine Cold-Chain Management</a:t>
            </a:r>
          </a:p>
          <a:p>
            <a:pPr algn="ctr">
              <a:lnSpc>
                <a:spcPts val="47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18498" y="7072599"/>
            <a:ext cx="6004743" cy="1968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4"/>
              </a:lnSpc>
            </a:pPr>
            <a:r>
              <a:rPr sz="2800">
                <a:solidFill>
                  <a:srgbClr val="FFFFFF"/>
                </a:solidFill>
                <a:latin typeface="Buenard"/>
              </a:rPr>
              <a:t>Preventing failures before they happen — Protecting vaccines, ensuring WHO/FDA compliance, and preventing INR 8+ Cr losses per incident.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4421992" y="5571820"/>
            <a:ext cx="16537792" cy="97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4"/>
              </a:lnSpc>
            </a:pPr>
            <a:r>
              <a:rPr lang="en-US" sz="7122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VaxKavach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5808" y="206857"/>
            <a:ext cx="2974328" cy="9873287"/>
          </a:xfrm>
          <a:custGeom>
            <a:avLst/>
            <a:gdLst/>
            <a:ahLst/>
            <a:cxnLst/>
            <a:rect r="r" b="b" t="t" l="l"/>
            <a:pathLst>
              <a:path h="9873287" w="2974328">
                <a:moveTo>
                  <a:pt x="0" y="0"/>
                </a:moveTo>
                <a:lnTo>
                  <a:pt x="2974328" y="0"/>
                </a:lnTo>
                <a:lnTo>
                  <a:pt x="2974328" y="9873286"/>
                </a:lnTo>
                <a:lnTo>
                  <a:pt x="0" y="987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9252" y="1958069"/>
            <a:ext cx="15848748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0"/>
              </a:lnSpc>
            </a:pPr>
            <a:r>
              <a:rPr lang="en-US" sz="5000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Cold-Chain Failures: Silent &amp; Costly</a:t>
            </a:r>
          </a:p>
          <a:p>
            <a:pPr algn="ctr">
              <a:lnSpc>
                <a:spcPts val="465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21916" y="3928567"/>
            <a:ext cx="3924300" cy="4076700"/>
          </a:xfrm>
          <a:custGeom>
            <a:avLst/>
            <a:gdLst/>
            <a:ahLst/>
            <a:cxnLst/>
            <a:rect r="r" b="b" t="t" l="l"/>
            <a:pathLst>
              <a:path h="4076700" w="3924300">
                <a:moveTo>
                  <a:pt x="0" y="0"/>
                </a:moveTo>
                <a:lnTo>
                  <a:pt x="3924300" y="0"/>
                </a:lnTo>
                <a:lnTo>
                  <a:pt x="3924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74916" y="3856063"/>
            <a:ext cx="3924300" cy="4076700"/>
          </a:xfrm>
          <a:custGeom>
            <a:avLst/>
            <a:gdLst/>
            <a:ahLst/>
            <a:cxnLst/>
            <a:rect r="r" b="b" t="t" l="l"/>
            <a:pathLst>
              <a:path h="4076700" w="3924300">
                <a:moveTo>
                  <a:pt x="0" y="0"/>
                </a:moveTo>
                <a:lnTo>
                  <a:pt x="3924300" y="0"/>
                </a:lnTo>
                <a:lnTo>
                  <a:pt x="3924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35000" y="3856063"/>
            <a:ext cx="3924300" cy="4076700"/>
          </a:xfrm>
          <a:custGeom>
            <a:avLst/>
            <a:gdLst/>
            <a:ahLst/>
            <a:cxnLst/>
            <a:rect r="r" b="b" t="t" l="l"/>
            <a:pathLst>
              <a:path h="4076700" w="3924300">
                <a:moveTo>
                  <a:pt x="0" y="0"/>
                </a:moveTo>
                <a:lnTo>
                  <a:pt x="3924300" y="0"/>
                </a:lnTo>
                <a:lnTo>
                  <a:pt x="3924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70453" y="4417698"/>
            <a:ext cx="3133226" cy="302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sz="2200" b="1">
                <a:solidFill>
                  <a:srgbClr val="FFFFFF"/>
                </a:solidFill>
                <a:latin typeface="Roboto Bold"/>
              </a:rPr>
              <a:t>DISCONNECTED DATA SILOS</a:t>
            </a:r>
          </a:p>
          <a:p/>
          <a:p>
            <a:r>
              <a:rPr sz="1550" b="1">
                <a:solidFill>
                  <a:srgbClr val="FFFFFF"/>
                </a:solidFill>
                <a:latin typeface="Roboto Bold"/>
              </a:rPr>
              <a:t>FRAGMENTED SENSORS (GPS, TEMP, DOORS, TRAFFIC) ARE MONITORED IN ISOLATION. OPERATORS SUFFER ALERT FATIGUE WHILE ANOMALIES GO UNCORRELATED.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6335" y="4629216"/>
            <a:ext cx="3215462" cy="247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4"/>
              </a:lnSpc>
              <a:spcBef>
                <a:spcPct val="0"/>
              </a:spcBef>
            </a:pPr>
            <a:r>
              <a:rPr sz="2100" b="1">
                <a:solidFill>
                  <a:srgbClr val="FFFFFF"/>
                </a:solidFill>
                <a:latin typeface="Roboto Bold"/>
              </a:rPr>
              <a:t>INR 8+ CR / $1M+ PER INCIDENT</a:t>
            </a:r>
          </a:p>
          <a:p/>
          <a:p>
            <a:r>
              <a:rPr sz="1550" b="1">
                <a:solidFill>
                  <a:srgbClr val="FFFFFF"/>
                </a:solidFill>
                <a:latin typeface="Roboto Bold"/>
              </a:rPr>
              <a:t>50% OF VACCINES WASTED GLOBALLY (WHO). HEAT-DAMAGED VACCINES LOOK IDENTICAL TO POTENT ONES, CAUSING SEVERE HEALTH RISK &amp; REPUTATIONAL DAMAGE.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41387" y="4408173"/>
            <a:ext cx="3711525" cy="228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sz="2100" b="1">
                <a:solidFill>
                  <a:srgbClr val="FFFFFF"/>
                </a:solidFill>
                <a:latin typeface="Roboto Bold"/>
              </a:rPr>
              <a:t>THRESHOLD-ONLY REACTIVITY</a:t>
            </a:r>
          </a:p>
          <a:p/>
          <a:p>
            <a:r>
              <a:rPr sz="1550" b="1">
                <a:solidFill>
                  <a:srgbClr val="FFFFFF"/>
                </a:solidFill>
                <a:latin typeface="Roboto Bold"/>
              </a:rPr>
              <a:t>RIGID ALARMS ONLY BEEP AFTER CROSSING 8°C WHEN THERMAL DAMAGE HAS ALREADY OCCURRED. NO PREDICTIVE RATE-OF-CLIMB (dT/dt) WARNING.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35000" y="8005267"/>
            <a:ext cx="5682684" cy="3828708"/>
          </a:xfrm>
          <a:custGeom>
            <a:avLst/>
            <a:gdLst/>
            <a:ahLst/>
            <a:cxnLst/>
            <a:rect r="r" b="b" t="t" l="l"/>
            <a:pathLst>
              <a:path h="3828708" w="5682684">
                <a:moveTo>
                  <a:pt x="0" y="0"/>
                </a:moveTo>
                <a:lnTo>
                  <a:pt x="5682684" y="0"/>
                </a:lnTo>
                <a:lnTo>
                  <a:pt x="5682684" y="3828708"/>
                </a:lnTo>
                <a:lnTo>
                  <a:pt x="0" y="3828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487164" y="413713"/>
            <a:ext cx="2974328" cy="9873287"/>
          </a:xfrm>
          <a:custGeom>
            <a:avLst/>
            <a:gdLst/>
            <a:ahLst/>
            <a:cxnLst/>
            <a:rect r="r" b="b" t="t" l="l"/>
            <a:pathLst>
              <a:path h="9873287" w="2974328">
                <a:moveTo>
                  <a:pt x="0" y="0"/>
                </a:moveTo>
                <a:lnTo>
                  <a:pt x="2974328" y="0"/>
                </a:lnTo>
                <a:lnTo>
                  <a:pt x="2974328" y="9873287"/>
                </a:lnTo>
                <a:lnTo>
                  <a:pt x="0" y="987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53159" y="642570"/>
            <a:ext cx="10241280" cy="79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sz="5988" spc="-179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Operations Intelligence Desk: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3159" y="1455243"/>
            <a:ext cx="11301984" cy="790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8"/>
              </a:lnSpc>
            </a:pPr>
            <a:r>
              <a:rPr lang="en-US" b="true" sz="5988" spc="-179">
                <a:solidFill>
                  <a:srgbClr val="00C8A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AI-Driven Cold-Chain Monitoring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14475" y="2191376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53159" y="2634149"/>
            <a:ext cx="9253728" cy="77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An AI-assisted operations desk that unifies data, detects issues early, and drives faster, smarter decisions across the cold chain.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33550" y="3477251"/>
            <a:ext cx="3924300" cy="4076700"/>
          </a:xfrm>
          <a:custGeom>
            <a:avLst/>
            <a:gdLst/>
            <a:ahLst/>
            <a:cxnLst/>
            <a:rect r="r" b="b" t="t" l="l"/>
            <a:pathLst>
              <a:path h="4076700" w="3924300">
                <a:moveTo>
                  <a:pt x="0" y="0"/>
                </a:moveTo>
                <a:lnTo>
                  <a:pt x="3924300" y="0"/>
                </a:lnTo>
                <a:lnTo>
                  <a:pt x="3924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71700" y="3905876"/>
            <a:ext cx="1095375" cy="866775"/>
          </a:xfrm>
          <a:custGeom>
            <a:avLst/>
            <a:gdLst/>
            <a:ahLst/>
            <a:cxnLst/>
            <a:rect r="r" b="b" t="t" l="l"/>
            <a:pathLst>
              <a:path h="866775" w="1095375">
                <a:moveTo>
                  <a:pt x="0" y="0"/>
                </a:moveTo>
                <a:lnTo>
                  <a:pt x="1095375" y="0"/>
                </a:lnTo>
                <a:lnTo>
                  <a:pt x="109537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66391" y="5018056"/>
            <a:ext cx="2121408" cy="50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3896" spc="-116" b="true">
                <a:solidFill>
                  <a:srgbClr val="00B26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Correlate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171700" y="5620376"/>
            <a:ext cx="3057525" cy="219075"/>
          </a:xfrm>
          <a:custGeom>
            <a:avLst/>
            <a:gdLst/>
            <a:ahLst/>
            <a:cxnLst/>
            <a:rect r="r" b="b" t="t" l="l"/>
            <a:pathLst>
              <a:path h="219075" w="3057525">
                <a:moveTo>
                  <a:pt x="0" y="0"/>
                </a:moveTo>
                <a:lnTo>
                  <a:pt x="3057525" y="0"/>
                </a:lnTo>
                <a:lnTo>
                  <a:pt x="3057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66391" y="5957752"/>
            <a:ext cx="2487168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sz="2000">
                <a:solidFill>
                  <a:srgbClr val="FFFFFF"/>
                </a:solidFill>
                <a:latin typeface="Bricolage Grotesque"/>
              </a:rPr>
              <a:t>Fuses Temp, dT/dt, Door state, GPS &amp; ambient heat into a single operational event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5867400" y="3477251"/>
            <a:ext cx="3933825" cy="4076700"/>
          </a:xfrm>
          <a:custGeom>
            <a:avLst/>
            <a:gdLst/>
            <a:ahLst/>
            <a:cxnLst/>
            <a:rect r="r" b="b" t="t" l="l"/>
            <a:pathLst>
              <a:path h="4076700" w="3933825">
                <a:moveTo>
                  <a:pt x="0" y="0"/>
                </a:moveTo>
                <a:lnTo>
                  <a:pt x="3933825" y="0"/>
                </a:lnTo>
                <a:lnTo>
                  <a:pt x="39338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4625" y="3905876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54343" y="5020307"/>
            <a:ext cx="1682496" cy="49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719" spc="-111" b="true">
                <a:solidFill>
                  <a:srgbClr val="00B26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524625" y="5620376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54343" y="6029189"/>
            <a:ext cx="2395728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1"/>
              </a:lnSpc>
            </a:pPr>
            <a:r>
              <a:rPr sz="1900">
                <a:solidFill>
                  <a:srgbClr val="FFFFFF"/>
                </a:solidFill>
                <a:latin typeface="Bricolage Grotesque"/>
              </a:rPr>
              <a:t>Arrhenius Mean Kinetic Temp (MKT) &amp; rate-of-climb quantify true biological damage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20325" y="3477251"/>
            <a:ext cx="3714750" cy="4076700"/>
          </a:xfrm>
          <a:custGeom>
            <a:avLst/>
            <a:gdLst/>
            <a:ahLst/>
            <a:cxnLst/>
            <a:rect r="r" b="b" t="t" l="l"/>
            <a:pathLst>
              <a:path h="4076700" w="3714750">
                <a:moveTo>
                  <a:pt x="0" y="0"/>
                </a:moveTo>
                <a:lnTo>
                  <a:pt x="3714750" y="0"/>
                </a:lnTo>
                <a:lnTo>
                  <a:pt x="37147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58475" y="3905876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87431" y="5024169"/>
            <a:ext cx="2834640" cy="49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3790" spc="-113" b="true">
                <a:solidFill>
                  <a:srgbClr val="00B26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Recommend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658475" y="5620376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687431" y="6238739"/>
            <a:ext cx="267004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sz="1800">
                <a:solidFill>
                  <a:srgbClr val="FFFFFF"/>
                </a:solidFill>
                <a:latin typeface="Bricolage Grotesque"/>
              </a:rPr>
              <a:t>PostGIS spatial engine dispatches nearest certified depot reroutes &amp; Telegram bot cards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363700" y="3477251"/>
            <a:ext cx="3924300" cy="4076700"/>
          </a:xfrm>
          <a:custGeom>
            <a:avLst/>
            <a:gdLst/>
            <a:ahLst/>
            <a:cxnLst/>
            <a:rect r="r" b="b" t="t" l="l"/>
            <a:pathLst>
              <a:path h="4076700" w="3924300">
                <a:moveTo>
                  <a:pt x="0" y="0"/>
                </a:moveTo>
                <a:lnTo>
                  <a:pt x="3924300" y="0"/>
                </a:lnTo>
                <a:lnTo>
                  <a:pt x="3924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92325" y="3905876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875383" y="5003318"/>
            <a:ext cx="1225296" cy="52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3932" spc="-117" b="true">
                <a:solidFill>
                  <a:srgbClr val="00B26B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Audit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792325" y="5620376"/>
            <a:ext cx="2838450" cy="219075"/>
          </a:xfrm>
          <a:custGeom>
            <a:avLst/>
            <a:gdLst/>
            <a:ahLst/>
            <a:cxnLst/>
            <a:rect r="r" b="b" t="t" l="l"/>
            <a:pathLst>
              <a:path h="219075" w="2838450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875383" y="6000614"/>
            <a:ext cx="277977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9"/>
              </a:lnSpc>
            </a:pPr>
            <a:r>
              <a:rPr sz="1900">
                <a:solidFill>
                  <a:srgbClr val="FFFFFF"/>
                </a:solidFill>
                <a:latin typeface="Bricolage Grotesque"/>
              </a:rPr>
              <a:t>Cryptographic SHA-256 hash chain guarantees tamper-evident WHO GDP compliance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3476625" y="7334876"/>
            <a:ext cx="13068300" cy="866775"/>
          </a:xfrm>
          <a:custGeom>
            <a:avLst/>
            <a:gdLst/>
            <a:ahLst/>
            <a:cxnLst/>
            <a:rect r="r" b="b" t="t" l="l"/>
            <a:pathLst>
              <a:path h="866775" w="13068300">
                <a:moveTo>
                  <a:pt x="0" y="0"/>
                </a:moveTo>
                <a:lnTo>
                  <a:pt x="13068300" y="0"/>
                </a:lnTo>
                <a:lnTo>
                  <a:pt x="13068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171700" y="7982576"/>
            <a:ext cx="15678150" cy="1714500"/>
          </a:xfrm>
          <a:custGeom>
            <a:avLst/>
            <a:gdLst/>
            <a:ahLst/>
            <a:cxnLst/>
            <a:rect r="r" b="b" t="t" l="l"/>
            <a:pathLst>
              <a:path h="1714500" w="15678150">
                <a:moveTo>
                  <a:pt x="0" y="0"/>
                </a:moveTo>
                <a:lnTo>
                  <a:pt x="15678150" y="0"/>
                </a:lnTo>
                <a:lnTo>
                  <a:pt x="156781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24000" y="8572500"/>
            <a:ext cx="219075" cy="857250"/>
          </a:xfrm>
          <a:custGeom>
            <a:avLst/>
            <a:gdLst/>
            <a:ahLst/>
            <a:cxnLst/>
            <a:rect r="r" b="b" t="t" l="l"/>
            <a:pathLst>
              <a:path h="857250" w="219075">
                <a:moveTo>
                  <a:pt x="0" y="0"/>
                </a:moveTo>
                <a:lnTo>
                  <a:pt x="219075" y="0"/>
                </a:lnTo>
                <a:lnTo>
                  <a:pt x="219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956816" y="8543163"/>
            <a:ext cx="1016812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sz="2500">
                <a:solidFill>
                  <a:srgbClr val="FFFFFF"/>
                </a:solidFill>
                <a:latin typeface="Bricolage Grotesque"/>
              </a:rPr>
              <a:t>Built to meet PS 5 operational needs: Watch, Spot, Explain, Recommend, Act, and Record — </a:t>
            </a:r>
            <a:r>
              <a:rPr sz="2500" b="1">
                <a:solidFill>
                  <a:srgbClr val="00B26B"/>
                </a:solidFill>
                <a:latin typeface="Bricolage Grotesque"/>
              </a:rPr>
              <a:t>Every degree, accounted for.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622010" y="2445998"/>
            <a:ext cx="19324397" cy="213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1"/>
              </a:lnSpc>
            </a:pPr>
            <a:r>
              <a:rPr lang="en-US" sz="4367">
                <a:solidFill>
                  <a:srgbClr val="FFFFFF"/>
                </a:solidFill>
                <a:latin typeface="Brick Sans"/>
                <a:ea typeface="Brick Sans"/>
                <a:cs typeface="Brick Sans"/>
                <a:sym typeface="Brick Sans"/>
              </a:rPr>
              <a:t>End-to-End Intelligence Flow</a:t>
            </a:r>
          </a:p>
          <a:p>
            <a:pPr algn="ctr">
              <a:lnSpc>
                <a:spcPts val="4061"/>
              </a:lnSpc>
            </a:pPr>
          </a:p>
          <a:p>
            <a:pPr algn="ctr">
              <a:lnSpc>
                <a:spcPts val="4061"/>
              </a:lnSpc>
            </a:pPr>
          </a:p>
          <a:p>
            <a:pPr algn="ctr">
              <a:lnSpc>
                <a:spcPts val="4061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622010" y="7717443"/>
            <a:ext cx="4573972" cy="3081713"/>
          </a:xfrm>
          <a:custGeom>
            <a:avLst/>
            <a:gdLst/>
            <a:ahLst/>
            <a:cxnLst/>
            <a:rect r="r" b="b" t="t" l="l"/>
            <a:pathLst>
              <a:path h="3081713" w="4573972">
                <a:moveTo>
                  <a:pt x="0" y="0"/>
                </a:moveTo>
                <a:lnTo>
                  <a:pt x="4573971" y="0"/>
                </a:lnTo>
                <a:lnTo>
                  <a:pt x="4573971" y="3081714"/>
                </a:lnTo>
                <a:lnTo>
                  <a:pt x="0" y="3081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954647" y="-321923"/>
            <a:ext cx="6070214" cy="2701245"/>
          </a:xfrm>
          <a:custGeom>
            <a:avLst/>
            <a:gdLst/>
            <a:ahLst/>
            <a:cxnLst/>
            <a:rect r="r" b="b" t="t" l="l"/>
            <a:pathLst>
              <a:path h="2701245" w="6070214">
                <a:moveTo>
                  <a:pt x="0" y="0"/>
                </a:moveTo>
                <a:lnTo>
                  <a:pt x="6070214" y="0"/>
                </a:lnTo>
                <a:lnTo>
                  <a:pt x="6070214" y="2701246"/>
                </a:lnTo>
                <a:lnTo>
                  <a:pt x="0" y="270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71881" y="-1276893"/>
            <a:ext cx="3873712" cy="3978138"/>
          </a:xfrm>
          <a:custGeom>
            <a:avLst/>
            <a:gdLst/>
            <a:ahLst/>
            <a:cxnLst/>
            <a:rect r="r" b="b" t="t" l="l"/>
            <a:pathLst>
              <a:path h="3978138" w="3873712">
                <a:moveTo>
                  <a:pt x="0" y="0"/>
                </a:moveTo>
                <a:lnTo>
                  <a:pt x="3873713" y="0"/>
                </a:lnTo>
                <a:lnTo>
                  <a:pt x="3873713" y="3978138"/>
                </a:lnTo>
                <a:lnTo>
                  <a:pt x="0" y="3978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03055" y="4348854"/>
            <a:ext cx="5613880" cy="6984609"/>
          </a:xfrm>
          <a:custGeom>
            <a:avLst/>
            <a:gdLst/>
            <a:ahLst/>
            <a:cxnLst/>
            <a:rect r="r" b="b" t="t" l="l"/>
            <a:pathLst>
              <a:path h="6984609" w="5613880">
                <a:moveTo>
                  <a:pt x="0" y="0"/>
                </a:moveTo>
                <a:lnTo>
                  <a:pt x="5613880" y="0"/>
                </a:lnTo>
                <a:lnTo>
                  <a:pt x="5613880" y="6984609"/>
                </a:lnTo>
                <a:lnTo>
                  <a:pt x="0" y="69846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31863" y="3581201"/>
            <a:ext cx="14029961" cy="4785752"/>
          </a:xfrm>
          <a:custGeom>
            <a:avLst/>
            <a:gdLst/>
            <a:ahLst/>
            <a:cxnLst/>
            <a:rect r="r" b="b" t="t" l="l"/>
            <a:pathLst>
              <a:path h="4785752" w="14029961">
                <a:moveTo>
                  <a:pt x="0" y="0"/>
                </a:moveTo>
                <a:lnTo>
                  <a:pt x="14029961" y="0"/>
                </a:lnTo>
                <a:lnTo>
                  <a:pt x="14029961" y="4785752"/>
                </a:lnTo>
                <a:lnTo>
                  <a:pt x="0" y="4785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</a:blip>
            <a:stretch>
              <a:fillRect l="-414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3013" y="7801380"/>
            <a:ext cx="4573972" cy="3081713"/>
          </a:xfrm>
          <a:custGeom>
            <a:avLst/>
            <a:gdLst/>
            <a:ahLst/>
            <a:cxnLst/>
            <a:rect r="r" b="b" t="t" l="l"/>
            <a:pathLst>
              <a:path h="3081713" w="4573972">
                <a:moveTo>
                  <a:pt x="0" y="0"/>
                </a:moveTo>
                <a:lnTo>
                  <a:pt x="4573972" y="0"/>
                </a:lnTo>
                <a:lnTo>
                  <a:pt x="4573972" y="3081713"/>
                </a:lnTo>
                <a:lnTo>
                  <a:pt x="0" y="308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62438" y="-321923"/>
            <a:ext cx="6070214" cy="2701245"/>
          </a:xfrm>
          <a:custGeom>
            <a:avLst/>
            <a:gdLst/>
            <a:ahLst/>
            <a:cxnLst/>
            <a:rect r="r" b="b" t="t" l="l"/>
            <a:pathLst>
              <a:path h="2701245" w="6070214">
                <a:moveTo>
                  <a:pt x="0" y="0"/>
                </a:moveTo>
                <a:lnTo>
                  <a:pt x="6070215" y="0"/>
                </a:lnTo>
                <a:lnTo>
                  <a:pt x="6070215" y="2701246"/>
                </a:lnTo>
                <a:lnTo>
                  <a:pt x="0" y="2701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17924" y="4321082"/>
            <a:ext cx="5613880" cy="6984609"/>
          </a:xfrm>
          <a:custGeom>
            <a:avLst/>
            <a:gdLst/>
            <a:ahLst/>
            <a:cxnLst/>
            <a:rect r="r" b="b" t="t" l="l"/>
            <a:pathLst>
              <a:path h="6984609" w="5613880">
                <a:moveTo>
                  <a:pt x="0" y="0"/>
                </a:moveTo>
                <a:lnTo>
                  <a:pt x="5613880" y="0"/>
                </a:lnTo>
                <a:lnTo>
                  <a:pt x="5613880" y="6984609"/>
                </a:lnTo>
                <a:lnTo>
                  <a:pt x="0" y="69846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5401" y="2517263"/>
            <a:ext cx="15942692" cy="6527360"/>
          </a:xfrm>
          <a:custGeom>
            <a:avLst/>
            <a:gdLst/>
            <a:ahLst/>
            <a:cxnLst/>
            <a:rect r="r" b="b" t="t" l="l"/>
            <a:pathLst>
              <a:path h="6527360" w="15942692">
                <a:moveTo>
                  <a:pt x="0" y="0"/>
                </a:moveTo>
                <a:lnTo>
                  <a:pt x="15942692" y="0"/>
                </a:lnTo>
                <a:lnTo>
                  <a:pt x="15942692" y="6527360"/>
                </a:lnTo>
                <a:lnTo>
                  <a:pt x="0" y="65273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178" y="709835"/>
            <a:ext cx="7144064" cy="730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5422" spc="-10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Walkthrough: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229" y="1420194"/>
            <a:ext cx="9855680" cy="754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1"/>
              </a:lnSpc>
            </a:pPr>
            <a:r>
              <a:rPr lang="en-US" sz="5691" spc="-113" b="true">
                <a:solidFill>
                  <a:srgbClr val="00C8A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From Detection to Resolution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7878" y="3140273"/>
            <a:ext cx="1981565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"/>
              </a:lnSpc>
            </a:pPr>
            <a:r>
              <a:rPr lang="en-US" b="true" sz="1682" spc="-3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TIMELINE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417660" y="2924657"/>
            <a:ext cx="217277" cy="416447"/>
          </a:xfrm>
          <a:custGeom>
            <a:avLst/>
            <a:gdLst/>
            <a:ahLst/>
            <a:cxnLst/>
            <a:rect r="r" b="b" t="t" l="l"/>
            <a:pathLst>
              <a:path h="416447" w="217277">
                <a:moveTo>
                  <a:pt x="0" y="0"/>
                </a:moveTo>
                <a:lnTo>
                  <a:pt x="217277" y="0"/>
                </a:lnTo>
                <a:lnTo>
                  <a:pt x="217277" y="416447"/>
                </a:lnTo>
                <a:lnTo>
                  <a:pt x="0" y="41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89256" y="3092801"/>
            <a:ext cx="1825126" cy="19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13"/>
              </a:lnSpc>
            </a:pPr>
            <a:r>
              <a:rPr lang="en-US" b="true" sz="1513" spc="-30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LIVE INCIDENT 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35401" y="3332051"/>
            <a:ext cx="15734468" cy="208224"/>
          </a:xfrm>
          <a:custGeom>
            <a:avLst/>
            <a:gdLst/>
            <a:ahLst/>
            <a:cxnLst/>
            <a:rect r="r" b="b" t="t" l="l"/>
            <a:pathLst>
              <a:path h="208224" w="15734468">
                <a:moveTo>
                  <a:pt x="0" y="0"/>
                </a:moveTo>
                <a:lnTo>
                  <a:pt x="15734468" y="0"/>
                </a:lnTo>
                <a:lnTo>
                  <a:pt x="15734468" y="208224"/>
                </a:lnTo>
                <a:lnTo>
                  <a:pt x="0" y="208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04888" y="3947669"/>
            <a:ext cx="1249342" cy="1222183"/>
          </a:xfrm>
          <a:custGeom>
            <a:avLst/>
            <a:gdLst/>
            <a:ahLst/>
            <a:cxnLst/>
            <a:rect r="r" b="b" t="t" l="l"/>
            <a:pathLst>
              <a:path h="1222183" w="1249342">
                <a:moveTo>
                  <a:pt x="0" y="0"/>
                </a:moveTo>
                <a:lnTo>
                  <a:pt x="1249342" y="0"/>
                </a:lnTo>
                <a:lnTo>
                  <a:pt x="1249342" y="1222182"/>
                </a:lnTo>
                <a:lnTo>
                  <a:pt x="0" y="12221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21335" y="4961628"/>
            <a:ext cx="217277" cy="823842"/>
          </a:xfrm>
          <a:custGeom>
            <a:avLst/>
            <a:gdLst/>
            <a:ahLst/>
            <a:cxnLst/>
            <a:rect r="r" b="b" t="t" l="l"/>
            <a:pathLst>
              <a:path h="823842" w="217277">
                <a:moveTo>
                  <a:pt x="0" y="0"/>
                </a:moveTo>
                <a:lnTo>
                  <a:pt x="217277" y="0"/>
                </a:lnTo>
                <a:lnTo>
                  <a:pt x="217277" y="823841"/>
                </a:lnTo>
                <a:lnTo>
                  <a:pt x="0" y="8238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2222" y="5801976"/>
            <a:ext cx="608375" cy="25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b="true" sz="1985" spc="-39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08:13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8611" y="6163742"/>
            <a:ext cx="1807744" cy="25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b="true" sz="1985" spc="-3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Event Detected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611" y="6579758"/>
            <a:ext cx="1807744" cy="54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sz="1550">
                <a:solidFill>
                  <a:srgbClr val="FFFFFF"/>
                </a:solidFill>
                <a:latin typeface="Bricolage Grotesque"/>
              </a:rPr>
              <a:t>Temp rises 4.2°C → 5.4°C on NH48; truck stationary in 36°C ambient heat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101913" y="3947669"/>
            <a:ext cx="1457566" cy="1222183"/>
          </a:xfrm>
          <a:custGeom>
            <a:avLst/>
            <a:gdLst/>
            <a:ahLst/>
            <a:cxnLst/>
            <a:rect r="r" b="b" t="t" l="l"/>
            <a:pathLst>
              <a:path h="1222183" w="1457566">
                <a:moveTo>
                  <a:pt x="0" y="0"/>
                </a:moveTo>
                <a:lnTo>
                  <a:pt x="1457566" y="0"/>
                </a:lnTo>
                <a:lnTo>
                  <a:pt x="1457566" y="1222182"/>
                </a:lnTo>
                <a:lnTo>
                  <a:pt x="0" y="12221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726584" y="4961628"/>
            <a:ext cx="217277" cy="823842"/>
          </a:xfrm>
          <a:custGeom>
            <a:avLst/>
            <a:gdLst/>
            <a:ahLst/>
            <a:cxnLst/>
            <a:rect r="r" b="b" t="t" l="l"/>
            <a:pathLst>
              <a:path h="823842" w="217277">
                <a:moveTo>
                  <a:pt x="0" y="0"/>
                </a:moveTo>
                <a:lnTo>
                  <a:pt x="217277" y="0"/>
                </a:lnTo>
                <a:lnTo>
                  <a:pt x="217277" y="823841"/>
                </a:lnTo>
                <a:lnTo>
                  <a:pt x="0" y="8238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546245" y="5802404"/>
            <a:ext cx="608375" cy="25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 spc="-39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08:14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98812" y="6553026"/>
            <a:ext cx="2085858" cy="838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"/>
              </a:lnSpc>
            </a:pPr>
            <a:r>
              <a:rPr sz="1550">
                <a:solidFill>
                  <a:srgbClr val="FFFFFF"/>
                </a:solidFill>
                <a:latin typeface="Bricolage Grotesque"/>
              </a:rPr>
              <a:t>Open cargo door (&gt;4 min) + rate-of-climb (+0.8°C/min) flags active excursion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207162" y="3947669"/>
            <a:ext cx="1457566" cy="1222183"/>
          </a:xfrm>
          <a:custGeom>
            <a:avLst/>
            <a:gdLst/>
            <a:ahLst/>
            <a:cxnLst/>
            <a:rect r="r" b="b" t="t" l="l"/>
            <a:pathLst>
              <a:path h="1222183" w="1457566">
                <a:moveTo>
                  <a:pt x="0" y="0"/>
                </a:moveTo>
                <a:lnTo>
                  <a:pt x="1457566" y="0"/>
                </a:lnTo>
                <a:lnTo>
                  <a:pt x="1457566" y="1222182"/>
                </a:lnTo>
                <a:lnTo>
                  <a:pt x="0" y="12221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831833" y="4961628"/>
            <a:ext cx="208224" cy="823842"/>
          </a:xfrm>
          <a:custGeom>
            <a:avLst/>
            <a:gdLst/>
            <a:ahLst/>
            <a:cxnLst/>
            <a:rect r="r" b="b" t="t" l="l"/>
            <a:pathLst>
              <a:path h="823842" w="208224">
                <a:moveTo>
                  <a:pt x="0" y="0"/>
                </a:moveTo>
                <a:lnTo>
                  <a:pt x="208224" y="0"/>
                </a:lnTo>
                <a:lnTo>
                  <a:pt x="208224" y="823841"/>
                </a:lnTo>
                <a:lnTo>
                  <a:pt x="0" y="8238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640268" y="5801976"/>
            <a:ext cx="608375" cy="25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"/>
              </a:lnSpc>
            </a:pPr>
            <a:r>
              <a:rPr lang="en-US" b="true" sz="1985" spc="-39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08:15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62574" y="6169552"/>
            <a:ext cx="2781144" cy="24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4"/>
              </a:lnSpc>
            </a:pPr>
            <a:r>
              <a:rPr lang="en-US" b="true" sz="1884" spc="-37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Recommendation Issued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49485" y="6579758"/>
            <a:ext cx="2555176" cy="54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sz="1550">
                <a:solidFill>
                  <a:srgbClr val="FFFFFF"/>
                </a:solidFill>
                <a:latin typeface="Bricolage Grotesque"/>
              </a:rPr>
              <a:t>PostGIS plans 11.4km diversion to Sriperumbudur Depot; Telegram alert sent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312411" y="3947669"/>
            <a:ext cx="1457566" cy="1222183"/>
          </a:xfrm>
          <a:custGeom>
            <a:avLst/>
            <a:gdLst/>
            <a:ahLst/>
            <a:cxnLst/>
            <a:rect r="r" b="b" t="t" l="l"/>
            <a:pathLst>
              <a:path h="1222183" w="1457566">
                <a:moveTo>
                  <a:pt x="0" y="0"/>
                </a:moveTo>
                <a:lnTo>
                  <a:pt x="1457566" y="0"/>
                </a:lnTo>
                <a:lnTo>
                  <a:pt x="1457566" y="1222182"/>
                </a:lnTo>
                <a:lnTo>
                  <a:pt x="0" y="12221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937082" y="4961628"/>
            <a:ext cx="208224" cy="823842"/>
          </a:xfrm>
          <a:custGeom>
            <a:avLst/>
            <a:gdLst/>
            <a:ahLst/>
            <a:cxnLst/>
            <a:rect r="r" b="b" t="t" l="l"/>
            <a:pathLst>
              <a:path h="823842" w="208224">
                <a:moveTo>
                  <a:pt x="0" y="0"/>
                </a:moveTo>
                <a:lnTo>
                  <a:pt x="208224" y="0"/>
                </a:lnTo>
                <a:lnTo>
                  <a:pt x="208224" y="823841"/>
                </a:lnTo>
                <a:lnTo>
                  <a:pt x="0" y="8238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751673" y="5796593"/>
            <a:ext cx="608375" cy="267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b="true" sz="2052" spc="-41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08:17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99947" y="6579758"/>
            <a:ext cx="2311826" cy="54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sz="1550">
                <a:solidFill>
                  <a:srgbClr val="FFFFFF"/>
                </a:solidFill>
                <a:latin typeface="Bricolage Grotesque"/>
              </a:rPr>
              <a:t>Supervisor authorizes emergency reroute via Ops Console / Telegram Bot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3417660" y="3947669"/>
            <a:ext cx="1457566" cy="1222183"/>
          </a:xfrm>
          <a:custGeom>
            <a:avLst/>
            <a:gdLst/>
            <a:ahLst/>
            <a:cxnLst/>
            <a:rect r="r" b="b" t="t" l="l"/>
            <a:pathLst>
              <a:path h="1222183" w="1457566">
                <a:moveTo>
                  <a:pt x="0" y="0"/>
                </a:moveTo>
                <a:lnTo>
                  <a:pt x="1457566" y="0"/>
                </a:lnTo>
                <a:lnTo>
                  <a:pt x="1457566" y="1222182"/>
                </a:lnTo>
                <a:lnTo>
                  <a:pt x="0" y="122218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033278" y="4961628"/>
            <a:ext cx="217277" cy="823842"/>
          </a:xfrm>
          <a:custGeom>
            <a:avLst/>
            <a:gdLst/>
            <a:ahLst/>
            <a:cxnLst/>
            <a:rect r="r" b="b" t="t" l="l"/>
            <a:pathLst>
              <a:path h="823842" w="217277">
                <a:moveTo>
                  <a:pt x="0" y="0"/>
                </a:moveTo>
                <a:lnTo>
                  <a:pt x="217277" y="0"/>
                </a:lnTo>
                <a:lnTo>
                  <a:pt x="217277" y="823841"/>
                </a:lnTo>
                <a:lnTo>
                  <a:pt x="0" y="82384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3845696" y="5804072"/>
            <a:ext cx="608375" cy="2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b="true" sz="1783" spc="-35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08:34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15645" y="6159599"/>
            <a:ext cx="2051094" cy="25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b="true" sz="1918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Resolved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46117" y="6566178"/>
            <a:ext cx="2190151" cy="8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6"/>
              </a:lnSpc>
            </a:pPr>
            <a:r>
              <a:rPr sz="1550">
                <a:solidFill>
                  <a:srgbClr val="FFFFFF"/>
                </a:solidFill>
                <a:latin typeface="Bricolage Grotesque"/>
              </a:rPr>
              <a:t>Safely docked in cooling bay at 3.8°C; SHA-256 cryptographic audit ledger verified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381047" y="7813387"/>
            <a:ext cx="15318021" cy="1023012"/>
          </a:xfrm>
          <a:custGeom>
            <a:avLst/>
            <a:gdLst/>
            <a:ahLst/>
            <a:cxnLst/>
            <a:rect r="r" b="b" t="t" l="l"/>
            <a:pathLst>
              <a:path h="1023012" w="15318021">
                <a:moveTo>
                  <a:pt x="0" y="0"/>
                </a:moveTo>
                <a:lnTo>
                  <a:pt x="15318020" y="0"/>
                </a:lnTo>
                <a:lnTo>
                  <a:pt x="15318020" y="1023012"/>
                </a:lnTo>
                <a:lnTo>
                  <a:pt x="0" y="10230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09565" y="8838532"/>
            <a:ext cx="1807744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b="true" sz="1682" spc="-33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INCIDENT STATUS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3069848" y="8021611"/>
            <a:ext cx="217277" cy="615618"/>
          </a:xfrm>
          <a:custGeom>
            <a:avLst/>
            <a:gdLst/>
            <a:ahLst/>
            <a:cxnLst/>
            <a:rect r="r" b="b" t="t" l="l"/>
            <a:pathLst>
              <a:path h="615618" w="217277">
                <a:moveTo>
                  <a:pt x="0" y="0"/>
                </a:moveTo>
                <a:lnTo>
                  <a:pt x="217277" y="0"/>
                </a:lnTo>
                <a:lnTo>
                  <a:pt x="217277" y="615617"/>
                </a:lnTo>
                <a:lnTo>
                  <a:pt x="0" y="61561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4429766" y="8838532"/>
            <a:ext cx="1164604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b="true" sz="1682" spc="-33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RESOLVED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5758650" y="8021611"/>
            <a:ext cx="217277" cy="615618"/>
          </a:xfrm>
          <a:custGeom>
            <a:avLst/>
            <a:gdLst/>
            <a:ahLst/>
            <a:cxnLst/>
            <a:rect r="r" b="b" t="t" l="l"/>
            <a:pathLst>
              <a:path h="615618" w="217277">
                <a:moveTo>
                  <a:pt x="0" y="0"/>
                </a:moveTo>
                <a:lnTo>
                  <a:pt x="217277" y="0"/>
                </a:lnTo>
                <a:lnTo>
                  <a:pt x="217277" y="615617"/>
                </a:lnTo>
                <a:lnTo>
                  <a:pt x="0" y="61561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158764" y="8838532"/>
            <a:ext cx="1077693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b="true" sz="1682" spc="-3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DURATION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0312411" y="8021611"/>
            <a:ext cx="217277" cy="615618"/>
          </a:xfrm>
          <a:custGeom>
            <a:avLst/>
            <a:gdLst/>
            <a:ahLst/>
            <a:cxnLst/>
            <a:rect r="r" b="b" t="t" l="l"/>
            <a:pathLst>
              <a:path h="615618" w="217277">
                <a:moveTo>
                  <a:pt x="0" y="0"/>
                </a:moveTo>
                <a:lnTo>
                  <a:pt x="217277" y="0"/>
                </a:lnTo>
                <a:lnTo>
                  <a:pt x="217277" y="615617"/>
                </a:lnTo>
                <a:lnTo>
                  <a:pt x="0" y="61561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914362" y="8838532"/>
            <a:ext cx="747433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b="true" sz="1682" spc="-33">
                <a:solidFill>
                  <a:srgbClr val="00C66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21 MIN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08595" y="8838532"/>
            <a:ext cx="799579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lang="en-US" b="true" sz="1682" spc="-33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94874" y="8838532"/>
            <a:ext cx="1912037" cy="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2"/>
              </a:lnSpc>
            </a:pPr>
            <a:r>
              <a:rPr sz="1550" b="1">
                <a:solidFill>
                  <a:srgbClr val="00C66E"/>
                </a:solidFill>
                <a:latin typeface="Bricolage Grotesque Bold"/>
              </a:rPr>
              <a:t>INR 1.2 CR LOSS PREVENTED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850959" y="6159599"/>
            <a:ext cx="1981565" cy="255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b="true" sz="1918" spc="-38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Flags Anomaly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004240" y="6164170"/>
            <a:ext cx="2085858" cy="255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1"/>
              </a:lnSpc>
            </a:pPr>
            <a:r>
              <a:rPr lang="en-US" b="true" sz="1951" spc="-39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Operator Decision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37883" y="263673"/>
            <a:ext cx="2974328" cy="9873287"/>
          </a:xfrm>
          <a:custGeom>
            <a:avLst/>
            <a:gdLst/>
            <a:ahLst/>
            <a:cxnLst/>
            <a:rect r="r" b="b" t="t" l="l"/>
            <a:pathLst>
              <a:path h="9873287" w="2974328">
                <a:moveTo>
                  <a:pt x="0" y="0"/>
                </a:moveTo>
                <a:lnTo>
                  <a:pt x="2974328" y="0"/>
                </a:lnTo>
                <a:lnTo>
                  <a:pt x="2974328" y="9873287"/>
                </a:lnTo>
                <a:lnTo>
                  <a:pt x="0" y="9873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36445" y="387498"/>
            <a:ext cx="6510528" cy="180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5"/>
              </a:lnSpc>
            </a:pPr>
            <a:r>
              <a:rPr lang="en-US" sz="6945" spc="-138" b="true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Why This is the Best Fit for </a:t>
            </a:r>
            <a:r>
              <a:rPr lang="en-US" sz="6945" spc="-138" b="true">
                <a:solidFill>
                  <a:srgbClr val="00C8A8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PS 5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952625" y="2364893"/>
            <a:ext cx="8286750" cy="3648075"/>
          </a:xfrm>
          <a:custGeom>
            <a:avLst/>
            <a:gdLst/>
            <a:ahLst/>
            <a:cxnLst/>
            <a:rect r="r" b="b" t="t" l="l"/>
            <a:pathLst>
              <a:path h="3648075" w="8286750">
                <a:moveTo>
                  <a:pt x="0" y="0"/>
                </a:moveTo>
                <a:lnTo>
                  <a:pt x="8286750" y="0"/>
                </a:lnTo>
                <a:lnTo>
                  <a:pt x="8286750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0775" y="2364893"/>
            <a:ext cx="8277225" cy="1076325"/>
          </a:xfrm>
          <a:custGeom>
            <a:avLst/>
            <a:gdLst/>
            <a:ahLst/>
            <a:cxnLst/>
            <a:rect r="r" b="b" t="t" l="l"/>
            <a:pathLst>
              <a:path h="1076325" w="8277225">
                <a:moveTo>
                  <a:pt x="0" y="0"/>
                </a:moveTo>
                <a:lnTo>
                  <a:pt x="8277225" y="0"/>
                </a:lnTo>
                <a:lnTo>
                  <a:pt x="82772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06877" y="2664169"/>
            <a:ext cx="532180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b="true" sz="2585" spc="-51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BASIC MONITORING DASHBOARDS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71885" y="2673694"/>
            <a:ext cx="52669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4"/>
              </a:lnSpc>
            </a:pPr>
            <a:r>
              <a:rPr lang="en-US" b="true" sz="2620" spc="-52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OPERATIONS INTELLIGENCE DESK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70301" y="3582950"/>
            <a:ext cx="276148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Disconnected alerts (isolated sensors)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0301" y="4451821"/>
            <a:ext cx="213969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Reactive threshold alarms (&gt;8°C only)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70301" y="5331740"/>
            <a:ext cx="17556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Mutable logs (no audit protection)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53597" y="3582950"/>
            <a:ext cx="290779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9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Multi-signal correlation + Arrhenius MKT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253597" y="4442296"/>
            <a:ext cx="395020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PostGIS depot routing + Telegram bot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53597" y="5336503"/>
            <a:ext cx="20482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sz="2100">
                <a:solidFill>
                  <a:srgbClr val="FFFFFF"/>
                </a:solidFill>
                <a:latin typeface="Bricolage Grotesque"/>
              </a:rPr>
              <a:t>Tamper-evident SHA-256 hash ledger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562475" y="5793893"/>
            <a:ext cx="6543675" cy="1076325"/>
          </a:xfrm>
          <a:custGeom>
            <a:avLst/>
            <a:gdLst/>
            <a:ahLst/>
            <a:cxnLst/>
            <a:rect r="r" b="b" t="t" l="l"/>
            <a:pathLst>
              <a:path h="1076325" w="6543675">
                <a:moveTo>
                  <a:pt x="0" y="0"/>
                </a:moveTo>
                <a:lnTo>
                  <a:pt x="6543675" y="0"/>
                </a:lnTo>
                <a:lnTo>
                  <a:pt x="6543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182475" y="5793893"/>
            <a:ext cx="228600" cy="1076325"/>
          </a:xfrm>
          <a:custGeom>
            <a:avLst/>
            <a:gdLst/>
            <a:ahLst/>
            <a:cxnLst/>
            <a:rect r="r" b="b" t="t" l="l"/>
            <a:pathLst>
              <a:path h="1076325" w="228600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706475" y="5793893"/>
            <a:ext cx="2838450" cy="1076325"/>
          </a:xfrm>
          <a:custGeom>
            <a:avLst/>
            <a:gdLst/>
            <a:ahLst/>
            <a:cxnLst/>
            <a:rect r="r" b="b" t="t" l="l"/>
            <a:pathLst>
              <a:path h="1076325" w="2838450">
                <a:moveTo>
                  <a:pt x="0" y="0"/>
                </a:moveTo>
                <a:lnTo>
                  <a:pt x="2838450" y="0"/>
                </a:lnTo>
                <a:lnTo>
                  <a:pt x="2838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038475" y="6651143"/>
            <a:ext cx="3495675" cy="1285875"/>
          </a:xfrm>
          <a:custGeom>
            <a:avLst/>
            <a:gdLst/>
            <a:ahLst/>
            <a:cxnLst/>
            <a:rect r="r" b="b" t="t" l="l"/>
            <a:pathLst>
              <a:path h="1285875" w="3495675">
                <a:moveTo>
                  <a:pt x="0" y="0"/>
                </a:moveTo>
                <a:lnTo>
                  <a:pt x="3495675" y="0"/>
                </a:lnTo>
                <a:lnTo>
                  <a:pt x="3495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76625" y="6860693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249293" y="7148539"/>
            <a:ext cx="1847088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b="true" sz="2620" spc="-52">
                <a:solidFill>
                  <a:srgbClr val="00D17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CORRELATE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43700" y="6651143"/>
            <a:ext cx="3495675" cy="1285875"/>
          </a:xfrm>
          <a:custGeom>
            <a:avLst/>
            <a:gdLst/>
            <a:ahLst/>
            <a:cxnLst/>
            <a:rect r="r" b="b" t="t" l="l"/>
            <a:pathLst>
              <a:path h="1285875" w="3495675">
                <a:moveTo>
                  <a:pt x="0" y="0"/>
                </a:moveTo>
                <a:lnTo>
                  <a:pt x="3495675" y="0"/>
                </a:lnTo>
                <a:lnTo>
                  <a:pt x="3495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181850" y="6860693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089773" y="7139014"/>
            <a:ext cx="142646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2585" spc="-51">
                <a:solidFill>
                  <a:srgbClr val="00D17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IDENTIFY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448925" y="6651143"/>
            <a:ext cx="3705225" cy="1285875"/>
          </a:xfrm>
          <a:custGeom>
            <a:avLst/>
            <a:gdLst/>
            <a:ahLst/>
            <a:cxnLst/>
            <a:rect r="r" b="b" t="t" l="l"/>
            <a:pathLst>
              <a:path h="1285875" w="3705225">
                <a:moveTo>
                  <a:pt x="0" y="0"/>
                </a:moveTo>
                <a:lnTo>
                  <a:pt x="3705225" y="0"/>
                </a:lnTo>
                <a:lnTo>
                  <a:pt x="3705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877550" y="6860693"/>
            <a:ext cx="666750" cy="866775"/>
          </a:xfrm>
          <a:custGeom>
            <a:avLst/>
            <a:gdLst/>
            <a:ahLst/>
            <a:cxnLst/>
            <a:rect r="r" b="b" t="t" l="l"/>
            <a:pathLst>
              <a:path h="866775" w="666750">
                <a:moveTo>
                  <a:pt x="0" y="0"/>
                </a:moveTo>
                <a:lnTo>
                  <a:pt x="666750" y="0"/>
                </a:lnTo>
                <a:lnTo>
                  <a:pt x="66675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655933" y="7143776"/>
            <a:ext cx="20848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b="true" sz="2549" spc="-50">
                <a:solidFill>
                  <a:srgbClr val="00D17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RECOMMEND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363700" y="6651143"/>
            <a:ext cx="3495675" cy="1285875"/>
          </a:xfrm>
          <a:custGeom>
            <a:avLst/>
            <a:gdLst/>
            <a:ahLst/>
            <a:cxnLst/>
            <a:rect r="r" b="b" t="t" l="l"/>
            <a:pathLst>
              <a:path h="1285875" w="3495675">
                <a:moveTo>
                  <a:pt x="0" y="0"/>
                </a:moveTo>
                <a:lnTo>
                  <a:pt x="3495675" y="0"/>
                </a:lnTo>
                <a:lnTo>
                  <a:pt x="349567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20925" y="6860693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5953613" y="7148539"/>
            <a:ext cx="95097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b="true" sz="2620" spc="-52">
                <a:solidFill>
                  <a:srgbClr val="00D179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AUDIT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85085" y="8332115"/>
            <a:ext cx="1327708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sz="2900">
                <a:solidFill>
                  <a:srgbClr val="FFFFFF"/>
                </a:solidFill>
                <a:latin typeface="Bricolage Grotesque"/>
              </a:rPr>
              <a:t>The only platform unifying physics-based intelligence, geospatial action, and cryptographic auditability to power </a:t>
            </a:r>
            <a:r>
              <a:rPr sz="2900" b="1">
                <a:solidFill>
                  <a:srgbClr val="00D179"/>
                </a:solidFill>
                <a:latin typeface="Bricolage Grotesque Bold"/>
              </a:rPr>
              <a:t>PS 5</a:t>
            </a:r>
            <a:r>
              <a:rPr sz="2900">
                <a:solidFill>
                  <a:srgbClr val="FFFFFF"/>
                </a:solidFill>
                <a:latin typeface="Bricolage Grotesque"/>
              </a:rPr>
              <a:t> cold-chain operations with confidence.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0583" y="3169706"/>
            <a:ext cx="9826835" cy="4414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40"/>
              </a:lnSpc>
            </a:pPr>
            <a:r>
              <a:rPr lang="en-US" sz="17355">
                <a:solidFill>
                  <a:srgbClr val="00C8A8"/>
                </a:solidFill>
                <a:latin typeface="Brick Sans"/>
                <a:ea typeface="Brick Sans"/>
                <a:cs typeface="Brick Sans"/>
                <a:sym typeface="Brick Sans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8854" y="0"/>
            <a:ext cx="5392923" cy="5143500"/>
          </a:xfrm>
          <a:custGeom>
            <a:avLst/>
            <a:gdLst/>
            <a:ahLst/>
            <a:cxnLst/>
            <a:rect r="r" b="b" t="t" l="l"/>
            <a:pathLst>
              <a:path h="5143500" w="5392923">
                <a:moveTo>
                  <a:pt x="0" y="0"/>
                </a:moveTo>
                <a:lnTo>
                  <a:pt x="5392922" y="0"/>
                </a:lnTo>
                <a:lnTo>
                  <a:pt x="539292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54567" y="4795198"/>
            <a:ext cx="5133433" cy="5107765"/>
          </a:xfrm>
          <a:custGeom>
            <a:avLst/>
            <a:gdLst/>
            <a:ahLst/>
            <a:cxnLst/>
            <a:rect r="r" b="b" t="t" l="l"/>
            <a:pathLst>
              <a:path h="5107765" w="5133433">
                <a:moveTo>
                  <a:pt x="0" y="0"/>
                </a:moveTo>
                <a:lnTo>
                  <a:pt x="5133433" y="0"/>
                </a:lnTo>
                <a:lnTo>
                  <a:pt x="5133433" y="5107765"/>
                </a:lnTo>
                <a:lnTo>
                  <a:pt x="0" y="5107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0621" y="6619762"/>
            <a:ext cx="4573972" cy="3081713"/>
          </a:xfrm>
          <a:custGeom>
            <a:avLst/>
            <a:gdLst/>
            <a:ahLst/>
            <a:cxnLst/>
            <a:rect r="r" b="b" t="t" l="l"/>
            <a:pathLst>
              <a:path h="3081713" w="4573972">
                <a:moveTo>
                  <a:pt x="0" y="0"/>
                </a:moveTo>
                <a:lnTo>
                  <a:pt x="4573972" y="0"/>
                </a:lnTo>
                <a:lnTo>
                  <a:pt x="4573972" y="3081714"/>
                </a:lnTo>
                <a:lnTo>
                  <a:pt x="0" y="3081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31031" y="73296"/>
            <a:ext cx="6070214" cy="2701245"/>
          </a:xfrm>
          <a:custGeom>
            <a:avLst/>
            <a:gdLst/>
            <a:ahLst/>
            <a:cxnLst/>
            <a:rect r="r" b="b" t="t" l="l"/>
            <a:pathLst>
              <a:path h="2701245" w="6070214">
                <a:moveTo>
                  <a:pt x="0" y="0"/>
                </a:moveTo>
                <a:lnTo>
                  <a:pt x="6070215" y="0"/>
                </a:lnTo>
                <a:lnTo>
                  <a:pt x="6070215" y="2701245"/>
                </a:lnTo>
                <a:lnTo>
                  <a:pt x="0" y="27012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81487" y="-1921434"/>
            <a:ext cx="3873712" cy="3978138"/>
          </a:xfrm>
          <a:custGeom>
            <a:avLst/>
            <a:gdLst/>
            <a:ahLst/>
            <a:cxnLst/>
            <a:rect r="r" b="b" t="t" l="l"/>
            <a:pathLst>
              <a:path h="3978138" w="3873712">
                <a:moveTo>
                  <a:pt x="0" y="0"/>
                </a:moveTo>
                <a:lnTo>
                  <a:pt x="3873712" y="0"/>
                </a:lnTo>
                <a:lnTo>
                  <a:pt x="3873712" y="3978138"/>
                </a:lnTo>
                <a:lnTo>
                  <a:pt x="0" y="39781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7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46824" y="8421132"/>
            <a:ext cx="3985350" cy="3731737"/>
          </a:xfrm>
          <a:custGeom>
            <a:avLst/>
            <a:gdLst/>
            <a:ahLst/>
            <a:cxnLst/>
            <a:rect r="r" b="b" t="t" l="l"/>
            <a:pathLst>
              <a:path h="3731737" w="3985350">
                <a:moveTo>
                  <a:pt x="0" y="0"/>
                </a:moveTo>
                <a:lnTo>
                  <a:pt x="3985350" y="0"/>
                </a:lnTo>
                <a:lnTo>
                  <a:pt x="3985350" y="3731736"/>
                </a:lnTo>
                <a:lnTo>
                  <a:pt x="0" y="37317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6000"/>
            </a:blip>
            <a:stretch>
              <a:fillRect l="0" t="0" r="0" b="0"/>
            </a:stretch>
          </a:blipFill>
        </p:spPr>
      </p:sp>
      <p:sp>
        <p:nvSpPr>
          <p:cNvPr id="9" name="Subtitle 9"/>
          <p:cNvSpPr txBox="1"/>
          <p:nvPr/>
        </p:nvSpPr>
        <p:spPr>
          <a:xfrm>
            <a:off x="1905000" y="5842000"/>
            <a:ext cx="11430000" cy="1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C8A8"/>
                </a:solidFill>
                <a:latin typeface="Brick Sans"/>
              </a:rPr>
              <a:t>VaxKavach — Every degree, accounted for.
</a:t>
            </a:r>
          </a:p>
          <a:p>
            <a:pPr algn="ctr"/>
            <a:r>
              <a:rPr sz="1800">
                <a:solidFill>
                  <a:srgbClr val="FFFFFF"/>
                </a:solidFill>
                <a:latin typeface="Brick Sans"/>
              </a:rPr>
              <a:t>Smart India Hackathon 2026  •  Problem Statement 5: Autonomous Operations Intelligence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DAHUg2nK-z0</dc:identifier>
  <dcterms:modified xsi:type="dcterms:W3CDTF">2011-08-01T06:04:30Z</dcterms:modified>
  <cp:revision>1</cp:revision>
  <dc:title>Teal and White Science Medical Illustrated Group Project Presentation</dc:title>
</cp:coreProperties>
</file>